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ddfc2a3bba4c10" /><Relationship Type="http://schemas.openxmlformats.org/officeDocument/2006/relationships/extended-properties" Target="/docProps/app.xml" Id="R6ac08dcd15d54c08" /><Relationship Type="http://schemas.openxmlformats.org/officeDocument/2006/relationships/officeDocument" Target="/ppt/presentation.xml" Id="R365b864a2134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63c96f8dcb41bc"/>
  </p:sldMasterIdLst>
  <p:notesMasterIdLst>
    <p:notesMasterId xmlns:r="http://schemas.openxmlformats.org/officeDocument/2006/relationships" r:id="R597e20422b484eaf"/>
  </p:notesMasterIdLst>
  <p:sldIdLst>
    <p:sldId xmlns:r="http://schemas.openxmlformats.org/officeDocument/2006/relationships" id="256" r:id="Raa0169d04dca4155"/>
    <p:sldId xmlns:r="http://schemas.openxmlformats.org/officeDocument/2006/relationships" id="257" r:id="Ra9f8b780bdb44ec0"/>
    <p:sldId xmlns:r="http://schemas.openxmlformats.org/officeDocument/2006/relationships" id="258" r:id="R6223083aa23948ca"/>
    <p:sldId xmlns:r="http://schemas.openxmlformats.org/officeDocument/2006/relationships" id="259" r:id="R74051f79b84949b5"/>
    <p:sldId xmlns:r="http://schemas.openxmlformats.org/officeDocument/2006/relationships" id="260" r:id="R2e4d0de3a5e6454d"/>
    <p:sldId xmlns:r="http://schemas.openxmlformats.org/officeDocument/2006/relationships" id="261" r:id="R590fdbe0ae484f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ac34117f7f4588" /><Relationship Type="http://schemas.openxmlformats.org/officeDocument/2006/relationships/slideMaster" Target="/ppt/slideMasters/slideMaster1.xml" Id="R2f63c96f8dcb41bc" /><Relationship Type="http://schemas.openxmlformats.org/officeDocument/2006/relationships/notesMaster" Target="/ppt/notesMasters/notesMaster1.xml" Id="R597e20422b484eaf" /><Relationship Type="http://schemas.openxmlformats.org/officeDocument/2006/relationships/presProps" Target="/ppt/presProps.xml" Id="R8ca3e40d36d84f38" /><Relationship Type="http://schemas.openxmlformats.org/officeDocument/2006/relationships/tableStyles" Target="/ppt/tableStyles.xml" Id="Re79579844ac64b07" /><Relationship Type="http://schemas.openxmlformats.org/officeDocument/2006/relationships/slide" Target="/ppt/slides/slide1.xml" Id="Raa0169d04dca4155" /><Relationship Type="http://schemas.openxmlformats.org/officeDocument/2006/relationships/slide" Target="/ppt/slides/slide2.xml" Id="Ra9f8b780bdb44ec0" /><Relationship Type="http://schemas.openxmlformats.org/officeDocument/2006/relationships/slide" Target="/ppt/slides/slide3.xml" Id="R6223083aa23948ca" /><Relationship Type="http://schemas.openxmlformats.org/officeDocument/2006/relationships/slide" Target="/ppt/slides/slide4.xml" Id="R74051f79b84949b5" /><Relationship Type="http://schemas.openxmlformats.org/officeDocument/2006/relationships/slide" Target="/ppt/slides/slide5.xml" Id="R2e4d0de3a5e6454d" /><Relationship Type="http://schemas.openxmlformats.org/officeDocument/2006/relationships/slide" Target="/ppt/slides/slide6.xml" Id="R590fdbe0ae484f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bb0b6574e9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09b44fd984a32" /><Relationship Type="http://schemas.openxmlformats.org/officeDocument/2006/relationships/notesMaster" Target="/ppt/notesMasters/notesMaster1.xml" Id="Rc7de6d86516a4b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3dbb45f9ba4e63" /><Relationship Type="http://schemas.openxmlformats.org/officeDocument/2006/relationships/notesMaster" Target="/ppt/notesMasters/notesMaster1.xml" Id="R729fed764ff346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c05b217184ffd" /><Relationship Type="http://schemas.openxmlformats.org/officeDocument/2006/relationships/notesMaster" Target="/ppt/notesMasters/notesMaster1.xml" Id="R6319defb9b43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8362be2734c14" /><Relationship Type="http://schemas.openxmlformats.org/officeDocument/2006/relationships/notesMaster" Target="/ppt/notesMasters/notesMaster1.xml" Id="R1c26057c030145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d46f1e989d4a1b" /><Relationship Type="http://schemas.openxmlformats.org/officeDocument/2006/relationships/notesMaster" Target="/ppt/notesMasters/notesMaster1.xml" Id="Rcee9acdcac29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1fec4261704732" /><Relationship Type="http://schemas.openxmlformats.org/officeDocument/2006/relationships/notesMaster" Target="/ppt/notesMasters/notesMaster1.xml" Id="R767b980c3f7f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QuantRisk Analytics · Portfolio project 03 · 28 October 2026; methodology and exact calculations: docs/methodology/initial_kpi_plan.md and dated executive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ECB IVF CSVs and CSSF August 2026 workbook; source inventory and validation logs; methodology and exact calculations: docs/methodology/initial_kpi_plan.md and dated executive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Q2 · ECB non-MMF investment funds · source file 01, LU T00/1; all amounts are end-quarter stocks; methodology and exact calculations: docs/methodology/initial_kpi_plan.md and dated executive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Q2 · EUR billion · ECB non-MMF investment funds · file 01 area-specific T00/1 series; methodology and exact calculations: docs/methodology/initial_kpi_plan.md and dated executive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Q2 · Luxembourg · EUR billion · supplied file 02, LU L30 types 2/3/4; ECB manual paragraphs 135–137; methodology and exact calculations: docs/methodology/initial_kpi_plan.md and dated executive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consultancy offering · buyer demand, pricing and customer outcomes remain to be validated; methodology and exact calculations: docs/methodology/initial_kpi_plan.md and dated executive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49d964ba44a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2f47872e54e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b3e39bb334c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7c2423fa94c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79887191242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21122c454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9C6B7B-580B-4641-A41E-8644CFB2D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2349B4-8677-4905-97D4-53BC280530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451B9B-208F-42E9-AFFC-02DAA658E3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8B5EEB-1B58-4AF7-A119-4714F97784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4CBBE4-672D-4950-A815-AE5C02BBA1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D9EF50-74F4-47C1-91EE-2E4975BF25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2D906-C80E-4E17-AB22-F5819AFE0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185701-BF9E-4479-AB27-5AFDB19E6C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404585-8581-453A-8A04-5F404CF82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25C441-74FC-421A-B57E-6A2310B89D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49ac7dbd641af" /><Relationship Type="http://schemas.openxmlformats.org/officeDocument/2006/relationships/slideLayout" Target="/ppt/slideLayouts/slideLayout1.xml" Id="R4286868662414089" /><Relationship Type="http://schemas.openxmlformats.org/officeDocument/2006/relationships/slideLayout" Target="/ppt/slideLayouts/slideLayout2.xml" Id="R70ba2808df294e72" /><Relationship Type="http://schemas.openxmlformats.org/officeDocument/2006/relationships/slideLayout" Target="/ppt/slideLayouts/slideLayout3.xml" Id="R38965ddb409c48f7" /><Relationship Type="http://schemas.openxmlformats.org/officeDocument/2006/relationships/slideLayout" Target="/ppt/slideLayouts/slideLayout4.xml" Id="R0650659d7e974575" /><Relationship Type="http://schemas.openxmlformats.org/officeDocument/2006/relationships/slideLayout" Target="/ppt/slideLayouts/slideLayout5.xml" Id="Rc7c4de439ab84ad0" /><Relationship Type="http://schemas.openxmlformats.org/officeDocument/2006/relationships/slideLayout" Target="/ppt/slideLayouts/slideLayout6.xml" Id="Rbaf5b997dde342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6868662414089"/>
    <p:sldLayoutId xmlns:r="http://schemas.openxmlformats.org/officeDocument/2006/relationships" id="2147483650" r:id="R70ba2808df294e72"/>
    <p:sldLayoutId xmlns:r="http://schemas.openxmlformats.org/officeDocument/2006/relationships" id="2147483651" r:id="R38965ddb409c48f7"/>
    <p:sldLayoutId xmlns:r="http://schemas.openxmlformats.org/officeDocument/2006/relationships" id="2147483652" r:id="R0650659d7e974575"/>
    <p:sldLayoutId xmlns:r="http://schemas.openxmlformats.org/officeDocument/2006/relationships" id="2147483653" r:id="Rc7c4de439ab84ad0"/>
    <p:sldLayoutId xmlns:r="http://schemas.openxmlformats.org/officeDocument/2006/relationships" id="2147483654" r:id="Rbaf5b997dde342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e13af959649b3" /><Relationship Type="http://schemas.openxmlformats.org/officeDocument/2006/relationships/notesSlide" Target="/ppt/notesSlides/notesSlide1.xml" Id="R311c65b3f122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47022078a4b69" /><Relationship Type="http://schemas.openxmlformats.org/officeDocument/2006/relationships/notesSlide" Target="/ppt/notesSlides/notesSlide2.xml" Id="R19c155af92c946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0e1cce4a64476" /><Relationship Type="http://schemas.openxmlformats.org/officeDocument/2006/relationships/notesSlide" Target="/ppt/notesSlides/notesSlide3.xml" Id="Rd3d2bb77380547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96efba9a94813" /><Relationship Type="http://schemas.openxmlformats.org/officeDocument/2006/relationships/chart" Target="/ppt/slides/charts/chart1.xml" Id="R3180121ad0b94a82" /><Relationship Type="http://schemas.openxmlformats.org/officeDocument/2006/relationships/notesSlide" Target="/ppt/notesSlides/notesSlide4.xml" Id="R85f25ee65a0f47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00021af434d3f" /><Relationship Type="http://schemas.openxmlformats.org/officeDocument/2006/relationships/notesSlide" Target="/ppt/notesSlides/notesSlide5.xml" Id="R35e272bd027542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162171256435e" /><Relationship Type="http://schemas.openxmlformats.org/officeDocument/2006/relationships/notesSlide" Target="/ppt/notesSlides/notesSlide6.xml" Id="Rb992d5b68f184d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Assets, EUR bn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Germany</c:v>
                </c:pt>
                <c:pt idx="1">
                  <c:v>France</c:v>
                </c:pt>
                <c:pt idx="2">
                  <c:v>Ireland</c:v>
                </c:pt>
                <c:pt idx="3">
                  <c:v>Luxembourg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3413.383</c:v>
                </c:pt>
                <c:pt idx="1">
                  <c:v>2261.167</c:v>
                </c:pt>
                <c:pt idx="2">
                  <c:v>6212.841</c:v>
                </c:pt>
                <c:pt idx="3">
                  <c:v>9462.105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14631-E543-4CC0-B48F-F18F346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Luxembourg investment fund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34F4C-587B-4D32-9733-2AC9252A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QuantRisk Analytics · Portfolio project 03 · 28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EBD01-71E8-4978-8B78-C3FE6DB5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Industry analysis and repeatable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3CBD9-7A8C-4B62-A22D-8FE81717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public-statistics demonstration for fund administrators, ManCos, AIFMs and financial reporting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BA7F4-87AF-47DB-8782-43441583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ANALYSE · AUTOMATE · TRAIN</a:t>
            </a:r>
          </a:p>
        </p:txBody>
      </p:sp>
    </p:spTree>
    <p:extLst>
      <p:ext uri="{BB962C8B-B14F-4D97-AF65-F5344CB8AC3E}">
        <p14:creationId xmlns:p14="http://schemas.microsoft.com/office/powerpoint/2010/main" val="18758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1D5A0-6B5D-4BD9-9AC7-A84E7A9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Source evidence and reporting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2DD97-8816-42A9-9154-6280AFC5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Sources: supplied ECB IVF CSVs and CSSF August 2026 workbook; source inventory and validation 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C3433-06F8-48D2-8E04-FFB2A3B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850 ECB observations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18F00-5729-430D-9A49-92B23E3A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Five reporting areas, 34 quarters and five distinct measures.</a:t>
            </a:r>
          </a:p>
          <a:p xmlns:a="http://schemas.openxmlformats.org/drawingml/2006/main"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CSSF workbook adds 57 monthly observations and August legal-status and legal-form detail.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3A0EB-37C0-4A6C-BE5A-9FFA1DE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51 independent checks passed on each of two runs.</a:t>
            </a:r>
          </a:p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All seven analytical tables reproduced exactly.</a:t>
            </a:r>
          </a:p>
        </p:txBody>
      </p:sp>
    </p:spTree>
    <p:extLst>
      <p:ext uri="{BB962C8B-B14F-4D97-AF65-F5344CB8AC3E}">
        <p14:creationId xmlns:p14="http://schemas.microsoft.com/office/powerpoint/2010/main" val="315761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573CC-E1AF-47F3-BDA9-95131248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Luxembourg assets reached EUR 9.462 trillion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19113-8D6D-427A-BB39-A741A87E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2026 Q2 · ECB non-MMF investment funds · source file 01, LU T00/1; all amounts are end-quarter stocks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5CFA2-AFA4-429C-A59C-898E137D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9.26%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E3B54-A561-4702-8F82-FCFBEFDD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quarterly asset growth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FD3B5-351C-4390-9A74-D7F3C0D4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25.76%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5F5A3-37D0-4E66-884A-E5E8C158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annual asset growth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03967-92E0-48D1-A720-918390A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Luxembourg accounts for 38.68% of the reported euro-area asset aggregate. Asset growth includes valuation and other changes; it is not an investment return.</a:t>
            </a:r>
          </a:p>
        </p:txBody>
      </p:sp>
    </p:spTree>
    <p:extLst>
      <p:ext uri="{BB962C8B-B14F-4D97-AF65-F5344CB8AC3E}">
        <p14:creationId xmlns:p14="http://schemas.microsoft.com/office/powerpoint/2010/main" val="1742086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F191F-6767-47DC-BC9A-D51AA593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European industry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CE56D-243A-416F-8BE3-BA4E5F5E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2026 Q2 · EUR billion · ECB non-MMF investment funds · file 01 area-specific T00/1 series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E8681C7-6CC4-4657-89FA-70105EAEF67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80121ad0b94a8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E46E-DDFA-47E1-83C4-D87B7452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Euro-area benchmark: EUR 24,459.491 billion. The country bars form a subset of this aggregate.</a:t>
            </a:r>
          </a:p>
        </p:txBody>
      </p:sp>
    </p:spTree>
    <p:extLst>
      <p:ext uri="{BB962C8B-B14F-4D97-AF65-F5344CB8AC3E}">
        <p14:creationId xmlns:p14="http://schemas.microsoft.com/office/powerpoint/2010/main" val="341215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57885-4FC6-411F-A9CE-C29791DE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Net issuance and transactions differ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4FAC2-C5FD-42BF-AC57-1C94D461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2026 Q2 · Luxembourg · EUR billion · supplied file 02, LU L30 types 2/3/4; ECB manual paragraphs 135–137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D67EF-5A8F-416D-A559-AF1F0BFA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617.992 − 585.909 = 32.083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61CCB-1A22-4C5E-8E46-8103ECDB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Gross issues less redemptions gives net issuance.</a:t>
            </a:r>
          </a:p>
          <a:p xmlns:a="http://schemas.openxmlformats.org/drawingml/2006/main"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Reported financial transactions are EUR 78.508 billion.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B0FC7-DF0A-4D2E-8C16-05D2BF5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Transactions include income-related components. The supplied files do not fully explain the difference. The reporting model retains both measures and the reconciliation gap.</a:t>
            </a:r>
          </a:p>
        </p:txBody>
      </p:sp>
    </p:spTree>
    <p:extLst>
      <p:ext uri="{BB962C8B-B14F-4D97-AF65-F5344CB8AC3E}">
        <p14:creationId xmlns:p14="http://schemas.microsoft.com/office/powerpoint/2010/main" val="6956640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50546-D457-421A-8979-E2CE7D6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 proposed fund-reporting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24118-58EE-4C42-8EEA-A862B49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Proposed consultancy offering · buyer demand, pricing and customer outcomes remain to be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8465B-90C2-47F8-A1F7-70D56506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Investment Fund Data &amp; Reporting Intelligence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6C395-5F97-4481-A4B6-9B1B014D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scoped engagement would assess reporting quality, define KPIs, build a dashboard and hand over a repeatable workflow with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045AE-5666-4AF7-A0B6-D52B5A4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Commercial model: a fixed-scope diagnostic, followed by an optional implementation and training engagement.</a:t>
            </a:r>
          </a:p>
          <a:p xmlns:a="http://schemas.openxmlformats.org/drawingml/2006/main">
            <a:pPr>
              <a:defRPr sz="20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Next step: buyer interviews and a pilot with agreed acceptance criteria.</a:t>
            </a:r>
          </a:p>
        </p:txBody>
      </p:sp>
    </p:spTree>
    <p:extLst>
      <p:ext uri="{BB962C8B-B14F-4D97-AF65-F5344CB8AC3E}">
        <p14:creationId xmlns:p14="http://schemas.microsoft.com/office/powerpoint/2010/main" val="1215502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2026-10-28T22:58:00.7690000Z</dcterms:created>
  <dcterms:modified xsi:type="dcterms:W3CDTF">2026-10-28T22:58:00.7690000Z</dcterms:modified>
</coreProperties>
</file>